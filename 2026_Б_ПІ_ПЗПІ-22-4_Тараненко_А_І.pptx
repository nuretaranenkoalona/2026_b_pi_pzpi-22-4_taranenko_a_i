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82" r:id="rId3"/>
    <p:sldId id="295" r:id="rId4"/>
    <p:sldId id="283" r:id="rId5"/>
    <p:sldId id="292" r:id="rId6"/>
    <p:sldId id="296" r:id="rId7"/>
    <p:sldId id="289" r:id="rId8"/>
    <p:sldId id="285" r:id="rId9"/>
    <p:sldId id="286" r:id="rId10"/>
    <p:sldId id="290" r:id="rId11"/>
    <p:sldId id="297" r:id="rId12"/>
    <p:sldId id="280" r:id="rId13"/>
    <p:sldId id="303" r:id="rId14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0"/>
  </p:normalViewPr>
  <p:slideViewPr>
    <p:cSldViewPr snapToGrid="0">
      <p:cViewPr varScale="1">
        <p:scale>
          <a:sx n="114" d="100"/>
          <a:sy n="114" d="100"/>
        </p:scale>
        <p:origin x="176" y="7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88517" y="863632"/>
            <a:ext cx="3315950" cy="999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1600">
                <a:latin typeface="Times New Roman" panose="02020603050405020304" pitchFamily="18" charset="0"/>
                <a:cs typeface="Times New Roman" panose="02020603050405020304" pitchFamily="18" charset="0"/>
              </a:rPr>
              <a:t>Вебсистема «Dialogly» для централізованого управління бізнес-чатами у мультиканальному середовищі.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A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430850" y="3555851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/>
              <a:t>Студент: Тараненко Альона Ігорівна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Керівник: доц. каф. ПІ Кириченко І. В.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A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15 липня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Мета: </a:t>
            </a:r>
            <a:r>
              <a:rPr lang="uk" dirty="0"/>
              <a:t>проєктування та розробка клієнтського вебзастосунку для зручного доступу до чатів, їх перегляду й обробки в єдиному інтерфейсі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Об'єкт розробки: </a:t>
            </a:r>
            <a:r>
              <a:rPr lang="uk" dirty="0"/>
              <a:t>клієнтська частина (front-end) вебсистеми Dialogly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Актуальність: </a:t>
            </a:r>
            <a:r>
              <a:rPr lang="uk" dirty="0"/>
              <a:t>зростання кількості каналів комунікації </a:t>
            </a:r>
            <a:r>
              <a:rPr lang="uk"/>
              <a:t>в бізнесі</a:t>
            </a:r>
            <a:endParaRPr lang="uk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Б</a:t>
            </a:r>
            <a:r>
              <a:rPr lang="uk"/>
              <a:t>рак </a:t>
            </a:r>
            <a:r>
              <a:rPr lang="uk" dirty="0"/>
              <a:t>централізованого управління → втрата часу, помилки у відповідях, зниження задоволеності клієнтів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0052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28600" y="2305958"/>
            <a:ext cx="4038600" cy="196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uk"/>
              <a:t>- орієнтація </a:t>
            </a:r>
            <a:r>
              <a:rPr lang="uk" dirty="0"/>
              <a:t>переважно на великі підприємства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uk"/>
              <a:t>- немає </a:t>
            </a:r>
            <a:r>
              <a:rPr lang="uk" dirty="0"/>
              <a:t>одночасної роботи в кількох контекстах (особистий / корпоративний)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uk"/>
              <a:t>- немає </a:t>
            </a:r>
            <a:r>
              <a:rPr lang="uk" dirty="0"/>
              <a:t>інтеграції популярних месенджерів в єдиному інтерфейсі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DB64D-E276-D449-A0E2-4FDCCFF93886}"/>
              </a:ext>
            </a:extLst>
          </p:cNvPr>
          <p:cNvSpPr txBox="1"/>
          <p:nvPr/>
        </p:nvSpPr>
        <p:spPr>
          <a:xfrm>
            <a:off x="1131175" y="717946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uk-UA" b="1"/>
              <a:t>Досліджені рішення</a:t>
            </a:r>
            <a:endParaRPr lang="en-UA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701CE-C28A-ED47-8931-5F3F1C2E138B}"/>
              </a:ext>
            </a:extLst>
          </p:cNvPr>
          <p:cNvSpPr/>
          <p:nvPr/>
        </p:nvSpPr>
        <p:spPr>
          <a:xfrm>
            <a:off x="81708" y="1147541"/>
            <a:ext cx="1244600" cy="431800"/>
          </a:xfrm>
          <a:prstGeom prst="rect">
            <a:avLst/>
          </a:prstGeom>
          <a:solidFill>
            <a:srgbClr val="5D403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Crisp</a:t>
            </a:r>
            <a:endParaRPr lang="en-UA" b="1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8CD66-729B-C145-AD86-2071D6394132}"/>
              </a:ext>
            </a:extLst>
          </p:cNvPr>
          <p:cNvSpPr/>
          <p:nvPr/>
        </p:nvSpPr>
        <p:spPr>
          <a:xfrm>
            <a:off x="2881216" y="1147541"/>
            <a:ext cx="1244600" cy="431800"/>
          </a:xfrm>
          <a:prstGeom prst="rect">
            <a:avLst/>
          </a:prstGeom>
          <a:solidFill>
            <a:srgbClr val="5D403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Tidio</a:t>
            </a:r>
            <a:endParaRPr lang="en-UA" b="1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345CD-BBE4-3841-A3F8-DAF22E9127F3}"/>
              </a:ext>
            </a:extLst>
          </p:cNvPr>
          <p:cNvSpPr/>
          <p:nvPr/>
        </p:nvSpPr>
        <p:spPr>
          <a:xfrm>
            <a:off x="1481462" y="1131900"/>
            <a:ext cx="1244600" cy="431800"/>
          </a:xfrm>
          <a:prstGeom prst="rect">
            <a:avLst/>
          </a:prstGeom>
          <a:solidFill>
            <a:srgbClr val="5D403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Freshdesk</a:t>
            </a:r>
            <a:endParaRPr lang="en-UA" b="1">
              <a:solidFill>
                <a:srgbClr val="FFFFFF"/>
              </a:solidFill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AC3569C-0406-894C-BEFE-5804287087A3}"/>
              </a:ext>
            </a:extLst>
          </p:cNvPr>
          <p:cNvSpPr/>
          <p:nvPr/>
        </p:nvSpPr>
        <p:spPr>
          <a:xfrm>
            <a:off x="1968500" y="1676211"/>
            <a:ext cx="279400" cy="304800"/>
          </a:xfrm>
          <a:prstGeom prst="downArrow">
            <a:avLst/>
          </a:prstGeom>
          <a:solidFill>
            <a:srgbClr val="5D403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F5C62-B476-A310-8DCC-AC480F465405}"/>
              </a:ext>
            </a:extLst>
          </p:cNvPr>
          <p:cNvSpPr txBox="1"/>
          <p:nvPr/>
        </p:nvSpPr>
        <p:spPr>
          <a:xfrm>
            <a:off x="1467678" y="2044348"/>
            <a:ext cx="127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" b="1"/>
              <a:t>Прогалини</a:t>
            </a:r>
          </a:p>
          <a:p>
            <a:endParaRPr lang="en-UA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6580C8B-FC39-08A2-08F4-32F130F4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23083"/>
              </p:ext>
            </p:extLst>
          </p:nvPr>
        </p:nvGraphicFramePr>
        <p:xfrm>
          <a:off x="4294754" y="1147541"/>
          <a:ext cx="4673600" cy="3010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85549513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122368637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175734658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361881395"/>
                    </a:ext>
                  </a:extLst>
                </a:gridCol>
              </a:tblGrid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100" b="1" dirty="0">
                          <a:effectLst/>
                        </a:rPr>
                        <a:t>Критерій</a:t>
                      </a:r>
                      <a:endParaRPr lang="en-UA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effectLst/>
                        </a:rPr>
                        <a:t>Crisp</a:t>
                      </a:r>
                      <a:endParaRPr lang="en-UA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effectLst/>
                        </a:rPr>
                        <a:t>Tidio</a:t>
                      </a:r>
                      <a:endParaRPr lang="en-UA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effectLst/>
                        </a:rPr>
                        <a:t>Freshdesk</a:t>
                      </a:r>
                      <a:endParaRPr lang="en-UA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3950328685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Інтеграція зі сторонніми месенджерами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Обмежена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Обмежена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Через платні розширення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2219493770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Орієнтація на месенджер-комунікацію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Часткова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Часткова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Відсутня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1452195481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Модель обробки повідомлень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Спільна скринька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Спільна скринька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Тікет-система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914733324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Кілька </a:t>
                      </a:r>
                      <a:r>
                        <a:rPr lang="en-US" sz="1000" b="0" dirty="0">
                          <a:effectLst/>
                        </a:rPr>
                        <a:t>Workspace </a:t>
                      </a:r>
                      <a:r>
                        <a:rPr lang="uk-UA" sz="1000" b="0" dirty="0">
                          <a:effectLst/>
                        </a:rPr>
                        <a:t>в одному акаунті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1735168184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Особистий режим роботи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Не підтримується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3197469725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Розподіл ролей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Базовий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Відсутній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Розвинений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3681111924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Безкоштовний тарифний план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Наявний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Наявний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Наявний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1225358979"/>
                  </a:ext>
                </a:extLst>
              </a:tr>
              <a:tr h="11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Складність налаштування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Низька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Низька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0" dirty="0">
                          <a:effectLst/>
                        </a:rPr>
                        <a:t>Висока</a:t>
                      </a:r>
                      <a:endParaRPr lang="en-UA" sz="10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2000" marR="32000" marT="14000" marB="14000" anchor="ctr"/>
                </a:tc>
                <a:extLst>
                  <a:ext uri="{0D108BD9-81ED-4DB2-BD59-A6C34878D82A}">
                    <a16:rowId xmlns:a16="http://schemas.microsoft.com/office/drawing/2014/main" val="409467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57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451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- Централізоване </a:t>
            </a:r>
            <a:r>
              <a:rPr lang="uk" dirty="0"/>
              <a:t>відображення повідомлень з різних платформ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- Корпоративний </a:t>
            </a:r>
            <a:r>
              <a:rPr lang="uk" dirty="0"/>
              <a:t>та особистий режими з кількома робочими просторами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- Рольова </a:t>
            </a:r>
            <a:r>
              <a:rPr lang="uk" dirty="0"/>
              <a:t>модель доступу: власник / менеджери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- Керування </a:t>
            </a:r>
            <a:r>
              <a:rPr lang="uk" dirty="0"/>
              <a:t>інтеграціями, onboarding-flow, персоналізація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- Мультимовність і масштабованість</a:t>
            </a:r>
            <a:endParaRPr lang="uk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307A0-D8ED-3B6C-0416-A87CEC6D834A}"/>
              </a:ext>
            </a:extLst>
          </p:cNvPr>
          <p:cNvSpPr txBox="1"/>
          <p:nvPr/>
        </p:nvSpPr>
        <p:spPr>
          <a:xfrm>
            <a:off x="434363" y="3390938"/>
            <a:ext cx="8078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sz="1800" b="1"/>
              <a:t>Результат: </a:t>
            </a:r>
            <a:r>
              <a:rPr lang="uk" sz="1800"/>
              <a:t>клієнтський застосунок, готовий до використання в реальному бізнес-середовищі</a:t>
            </a:r>
          </a:p>
          <a:p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37245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508000" y="3327400"/>
            <a:ext cx="8128000" cy="10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b="1" dirty="0"/>
              <a:t>Обґрунтування: </a:t>
            </a:r>
            <a:r>
              <a:rPr lang="uk" dirty="0"/>
              <a:t>швидка розробка компонентного інтерфейсу, велика екосистема бібліотек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9DDE48-7494-6949-A6E2-F88A3D4C6E8B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320800"/>
          <a:ext cx="812800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214707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9055943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A" sz="1500" b="1">
                          <a:solidFill>
                            <a:srgbClr val="FFFFFF"/>
                          </a:solidFill>
                        </a:rPr>
                        <a:t>Категорія</a:t>
                      </a:r>
                    </a:p>
                  </a:txBody>
                  <a:tcPr anchor="ctr">
                    <a:solidFill>
                      <a:srgbClr val="5D40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A" sz="1500" b="1">
                          <a:solidFill>
                            <a:srgbClr val="FFFFFF"/>
                          </a:solidFill>
                        </a:rPr>
                        <a:t>Технології</a:t>
                      </a:r>
                    </a:p>
                  </a:txBody>
                  <a:tcPr anchor="ctr">
                    <a:solidFill>
                      <a:srgbClr val="5D4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5759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A" sz="1400" b="1"/>
                        <a:t>Мова та бібліотеки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A" sz="1400" b="0"/>
                        <a:t>JavaScript, React, React Router, Axios, Context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6476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A" sz="1400" b="1"/>
                        <a:t>Інструменти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A" sz="1400" b="0"/>
                        <a:t>Vite (збірка), Tailwind CSS (стилізація), Visual Studio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96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0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ПЗ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7500" y="1219200"/>
            <a:ext cx="38100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Односторінковий застосунок (SPA) з компонентним підходом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Розділення маршрутів на публічні та захищені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Глобальне управління станом через Context API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Взаємодія з серверним REST API через Axios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Компоненти згруповано за 6 функціональними модулями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Graphic 3" descr="Lightbulb outline">
            <a:extLst>
              <a:ext uri="{FF2B5EF4-FFF2-40B4-BE49-F238E27FC236}">
                <a16:creationId xmlns:a16="http://schemas.microsoft.com/office/drawing/2014/main" id="{BC67ECE2-A090-D507-A407-6275F4520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3100" y="266559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2F5168-5154-AE4F-A958-F67AF77B6033}"/>
              </a:ext>
            </a:extLst>
          </p:cNvPr>
          <p:cNvSpPr txBox="1"/>
          <p:nvPr/>
        </p:nvSpPr>
        <p:spPr>
          <a:xfrm>
            <a:off x="4267200" y="723759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uk-UA" b="1"/>
              <a:t>Функціональні модулі</a:t>
            </a:r>
            <a:endParaRPr lang="en-UA" b="1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75AD11-AE8D-4440-9B8C-EF10DE3C09F0}"/>
              </a:ext>
            </a:extLst>
          </p:cNvPr>
          <p:cNvSpPr/>
          <p:nvPr/>
        </p:nvSpPr>
        <p:spPr>
          <a:xfrm>
            <a:off x="4267200" y="11684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D4037"/>
                </a:solidFill>
              </a:rPr>
              <a:t>dashboard</a:t>
            </a:r>
            <a:endParaRPr lang="en-US" sz="1300" b="1" dirty="0">
              <a:solidFill>
                <a:srgbClr val="5D4037"/>
              </a:solidFill>
            </a:endParaRP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головний інтерфейс роботи з чатами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033687-CD5E-0341-A8AB-8EFF0379E0B1}"/>
              </a:ext>
            </a:extLst>
          </p:cNvPr>
          <p:cNvSpPr/>
          <p:nvPr/>
        </p:nvSpPr>
        <p:spPr>
          <a:xfrm>
            <a:off x="6654800" y="11684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4037"/>
                </a:solidFill>
              </a:rPr>
              <a:t>settings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розділи налаштувань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1FA812-C670-DE45-A870-239F5E4152C6}"/>
              </a:ext>
            </a:extLst>
          </p:cNvPr>
          <p:cNvSpPr/>
          <p:nvPr/>
        </p:nvSpPr>
        <p:spPr>
          <a:xfrm>
            <a:off x="4267200" y="22606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4037"/>
                </a:solidFill>
              </a:rPr>
              <a:t>onboarding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первинне налаштування після реєстрації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882AE2-A56E-A94E-942D-3348C1144934}"/>
              </a:ext>
            </a:extLst>
          </p:cNvPr>
          <p:cNvSpPr/>
          <p:nvPr/>
        </p:nvSpPr>
        <p:spPr>
          <a:xfrm>
            <a:off x="6654800" y="22606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4037"/>
                </a:solidFill>
              </a:rPr>
              <a:t>team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робота з учасниками робочого простору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043180-5BC5-DC4C-B32C-D6D7A6C0C5D2}"/>
              </a:ext>
            </a:extLst>
          </p:cNvPr>
          <p:cNvSpPr/>
          <p:nvPr/>
        </p:nvSpPr>
        <p:spPr>
          <a:xfrm>
            <a:off x="4267200" y="33528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4037"/>
                </a:solidFill>
              </a:rPr>
              <a:t>account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перемикання між акаунтами / робочими просторами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A14BD3-B735-5045-B002-09BF53A6E354}"/>
              </a:ext>
            </a:extLst>
          </p:cNvPr>
          <p:cNvSpPr/>
          <p:nvPr/>
        </p:nvSpPr>
        <p:spPr>
          <a:xfrm>
            <a:off x="6654800" y="3352800"/>
            <a:ext cx="2260600" cy="1016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4037"/>
                </a:solidFill>
              </a:rPr>
              <a:t>common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uk" sz="1100" dirty="0">
                <a:solidFill>
                  <a:srgbClr val="222222"/>
                </a:solidFill>
              </a:rPr>
              <a:t>компоненти, що використовуються в різних частинах системи</a:t>
            </a:r>
          </a:p>
        </p:txBody>
      </p:sp>
    </p:spTree>
    <p:extLst>
      <p:ext uri="{BB962C8B-B14F-4D97-AF65-F5344CB8AC3E}">
        <p14:creationId xmlns:p14="http://schemas.microsoft.com/office/powerpoint/2010/main" val="94891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процесу розробки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1265353" y="1252349"/>
            <a:ext cx="7153817" cy="1791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UML-моделювання (Use Case, діаграма діяльності) перед реалізацією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uk" dirty="0"/>
              <a:t>Ітеративна розробка: автентифікація → onboarding → чати </a:t>
            </a:r>
            <a:r>
              <a:rPr lang="uk"/>
              <a:t>→ налаштування</a:t>
            </a:r>
            <a:endParaRPr lang="uk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6B0D3C0-437C-783E-2325-E3AEA4255DBC}"/>
              </a:ext>
            </a:extLst>
          </p:cNvPr>
          <p:cNvSpPr/>
          <p:nvPr/>
        </p:nvSpPr>
        <p:spPr>
          <a:xfrm>
            <a:off x="407641" y="1505414"/>
            <a:ext cx="723534" cy="2453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4C09EE9-D870-928A-F99C-62EF9CC95011}"/>
              </a:ext>
            </a:extLst>
          </p:cNvPr>
          <p:cNvSpPr/>
          <p:nvPr/>
        </p:nvSpPr>
        <p:spPr>
          <a:xfrm>
            <a:off x="407641" y="2259515"/>
            <a:ext cx="723534" cy="2453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273C-FC80-47C6-DB8A-997C229DA2AE}"/>
              </a:ext>
            </a:extLst>
          </p:cNvPr>
          <p:cNvSpPr txBox="1"/>
          <p:nvPr/>
        </p:nvSpPr>
        <p:spPr>
          <a:xfrm>
            <a:off x="407641" y="3171947"/>
            <a:ext cx="811189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</a:pPr>
            <a:r>
              <a:rPr lang="uk" sz="1800" b="1"/>
              <a:t>Стек: </a:t>
            </a:r>
            <a:r>
              <a:rPr lang="uk" sz="1800"/>
              <a:t>JavaScript + React-екосистема</a:t>
            </a:r>
          </a:p>
          <a:p>
            <a:pPr lvl="0">
              <a:spcBef>
                <a:spcPts val="1000"/>
              </a:spcBef>
            </a:pPr>
            <a:r>
              <a:rPr lang="uk" sz="1800"/>
              <a:t>Побудовано 3 Use Case діаграми та діаграму діяльності для формалізації сценаріїв</a:t>
            </a:r>
          </a:p>
          <a:p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237036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Методи: </a:t>
            </a:r>
            <a:r>
              <a:rPr lang="uk" dirty="0"/>
              <a:t>UI/UX у стилі сучасних SaaS-продуктів, єдина дизайн-система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Послідовність: </a:t>
            </a:r>
            <a:r>
              <a:rPr lang="uk" dirty="0"/>
              <a:t>логін / реєстрація → onboarding → інтерфейс чатів → налаштування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Технології: </a:t>
            </a:r>
            <a:r>
              <a:rPr lang="uk" dirty="0"/>
              <a:t>Tailwind CSS, світла / темна тема, акцентний колір, мультимовність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Мета: </a:t>
            </a:r>
            <a:r>
              <a:rPr lang="uk" dirty="0"/>
              <a:t>комфортна робота при великому потоці повідомлень без зайвого візуального навантаження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245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4750280" y="380885"/>
            <a:ext cx="3894129" cy="4225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Фрагмент коду: </a:t>
            </a:r>
            <a:r>
              <a:rPr lang="uk" dirty="0"/>
              <a:t>getOnboardingState — визначення стану первинного налаштування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/>
              <a:t>Ф</a:t>
            </a:r>
            <a:r>
              <a:rPr lang="uk"/>
              <a:t>рагмент реалізує </a:t>
            </a:r>
            <a:r>
              <a:rPr lang="uk" dirty="0"/>
              <a:t>ключову бізнес-логіку без сторонніх бібліотек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A92ED-CAB3-5472-F2F1-557472D2A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425" y="1642717"/>
            <a:ext cx="28956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1D380E-D543-D5CE-6E45-32B35964D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41" y="647302"/>
            <a:ext cx="2646729" cy="35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5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0B130-4715-B970-6156-9196D51D6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523" y="621982"/>
            <a:ext cx="2928943" cy="3702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6C5E80-2114-4C5E-E1D4-1C56C12D8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12" y="621983"/>
            <a:ext cx="5861598" cy="370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266700" y="846590"/>
            <a:ext cx="3149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b="1" dirty="0"/>
              <a:t>Тест-кейси: </a:t>
            </a:r>
            <a:r>
              <a:rPr lang="uk" dirty="0"/>
              <a:t>автентифікація, onboarding, </a:t>
            </a:r>
            <a:r>
              <a:rPr lang="uk"/>
              <a:t>перемикання контекстів, головний </a:t>
            </a:r>
            <a:r>
              <a:rPr lang="uk" dirty="0"/>
              <a:t>інтерфейс чатів, </a:t>
            </a:r>
            <a:r>
              <a:rPr lang="uk"/>
              <a:t>розділ налаштувань, тестування </a:t>
            </a:r>
            <a:r>
              <a:rPr lang="uk" dirty="0"/>
              <a:t>адаптивності та безпеки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2FA6EC-010A-BF52-22E6-B4C33AA0C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35707"/>
              </p:ext>
            </p:extLst>
          </p:nvPr>
        </p:nvGraphicFramePr>
        <p:xfrm>
          <a:off x="3530600" y="685800"/>
          <a:ext cx="5359400" cy="3704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131424858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38085117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0826567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869767516"/>
                    </a:ext>
                  </a:extLst>
                </a:gridCol>
              </a:tblGrid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1">
                          <a:effectLst/>
                        </a:rPr>
                        <a:t>№</a:t>
                      </a:r>
                      <a:endParaRPr lang="en-UA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1">
                          <a:effectLst/>
                        </a:rPr>
                        <a:t>Сценарій</a:t>
                      </a:r>
                      <a:endParaRPr lang="en-UA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1">
                          <a:effectLst/>
                        </a:rPr>
                        <a:t>Очікуваний результат</a:t>
                      </a:r>
                      <a:endParaRPr lang="en-UA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1000" b="1">
                          <a:effectLst/>
                        </a:rPr>
                        <a:t>Статус</a:t>
                      </a:r>
                      <a:endParaRPr lang="en-UA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1812042122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1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Прямий перехід на /chats без авторизації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Перенаправлення на сторінку входу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2063442452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2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Прямий перехід на /settings без авторизації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Перенаправлення на сторінку входу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2121758404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3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Видалення JWT токена з localStorage та оновлення сторінки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Перенаправлення на сторінку входу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2727481378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4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Введення XSS-рядка у поле повідомлення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Текст відображається як рядок, скрипт не виконується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2824387152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5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Введення XSS-рядка у поле імені профілю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Текст відображається як рядок, скрипт не виконується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984665818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6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Введення XSS-рядка у поле назви workspace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Текст відображається як рядок, скрипт не виконується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3930122419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7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Перегляд кнопок керування інтеграціями з роллю менеджера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Кнопки підключення не відображаються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1816133507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8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Перегляд налаштувань workspace з роллю менеджера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Відображається повідомлення про відсутність доступу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720701580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9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Спроба запросити учасників з роллю менеджера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Кнопка запрошення недоступна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678887297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10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Введення некоректного коду двофакторної автентифікації тричі поспіль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Відображення помилки при кожній спробі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1769555870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11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Введення простроченого коду верифікації email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Відображення повідомлення про помилку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3097523696"/>
                  </a:ext>
                </a:extLst>
              </a:tr>
              <a:tr h="11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12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Завантаження файлу невідповідного типу у вкладення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Відображення повідомлення про помилку типу файлу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uk-UA" sz="900">
                          <a:effectLst/>
                        </a:rPr>
                        <a:t>Пройдено</a:t>
                      </a:r>
                      <a:endParaRPr lang="en-UA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32" marR="27432" marT="10000" marB="10000" anchor="ctr"/>
                </a:tc>
                <a:extLst>
                  <a:ext uri="{0D108BD9-81ED-4DB2-BD59-A6C34878D82A}">
                    <a16:rowId xmlns:a16="http://schemas.microsoft.com/office/drawing/2014/main" val="2404139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41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57640" y="1486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0536"/>
            <a:ext cx="3005756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Тези доповіді на 30-му Міжнародному молодіжному форумі «Радіоелектроніка та молодь у ХХІ столітті»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Том 6, с. 243–244</a:t>
            </a: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C2066-C5FC-DDCA-D46A-2A39641F8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544" y="699012"/>
            <a:ext cx="3005756" cy="4242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C54B9F-C3EC-FA1F-8430-86A1C8B521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1" t="426" b="665"/>
          <a:stretch>
            <a:fillRect/>
          </a:stretch>
        </p:blipFill>
        <p:spPr>
          <a:xfrm>
            <a:off x="3165809" y="880946"/>
            <a:ext cx="2827979" cy="403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6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B6AFC8-B449-A84D-9028-DFF579E980BC}"/>
              </a:ext>
            </a:extLst>
          </p:cNvPr>
          <p:cNvSpPr/>
          <p:nvPr/>
        </p:nvSpPr>
        <p:spPr>
          <a:xfrm>
            <a:off x="508000" y="1041400"/>
            <a:ext cx="3810000" cy="1524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30000" tIns="45720" rIns="91440" bIns="45720" rtlCol="0" anchor="ctr" anchorCtr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k" sz="1500" b="1" dirty="0">
                <a:solidFill>
                  <a:srgbClr val="5D4037"/>
                </a:solidFill>
              </a:rPr>
              <a:t>Вирішена проблема</a:t>
            </a:r>
          </a:p>
          <a:p>
            <a:pPr algn="l">
              <a:spcBef>
                <a:spcPts val="300"/>
              </a:spcBef>
              <a:buNone/>
            </a:pPr>
            <a:r>
              <a:rPr lang="uk" sz="1200" dirty="0">
                <a:solidFill>
                  <a:srgbClr val="000000"/>
                </a:solidFill>
              </a:rPr>
              <a:t>Усуває розпорошеність бізнес-комунікацій між різними каналами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A30DFE-BE1A-D745-91C3-B3FAD13101D6}"/>
              </a:ext>
            </a:extLst>
          </p:cNvPr>
          <p:cNvSpPr/>
          <p:nvPr/>
        </p:nvSpPr>
        <p:spPr>
          <a:xfrm>
            <a:off x="4572000" y="1041400"/>
            <a:ext cx="3810000" cy="1524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30000" tIns="45720" rIns="91440" bIns="45720" rtlCol="0" anchor="ctr" anchorCtr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k" sz="1500" b="1" dirty="0">
                <a:solidFill>
                  <a:srgbClr val="5D4037"/>
                </a:solidFill>
              </a:rPr>
              <a:t>SaaS-потенціал</a:t>
            </a:r>
          </a:p>
          <a:p>
            <a:pPr algn="l">
              <a:spcBef>
                <a:spcPts val="300"/>
              </a:spcBef>
              <a:buNone/>
            </a:pPr>
            <a:r>
              <a:rPr lang="uk" sz="1200" dirty="0">
                <a:solidFill>
                  <a:srgbClr val="000000"/>
                </a:solidFill>
              </a:rPr>
              <a:t>Може стати основою для комерційного SaaS-рішення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D3B05E-EECD-A742-B355-9A7131F93566}"/>
              </a:ext>
            </a:extLst>
          </p:cNvPr>
          <p:cNvSpPr/>
          <p:nvPr/>
        </p:nvSpPr>
        <p:spPr>
          <a:xfrm>
            <a:off x="508000" y="2692400"/>
            <a:ext cx="3810000" cy="1524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30000" tIns="45720" rIns="91440" bIns="45720" rtlCol="0" anchor="ctr" anchorCtr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k" sz="1500" b="1" dirty="0">
                <a:solidFill>
                  <a:srgbClr val="5D4037"/>
                </a:solidFill>
              </a:rPr>
              <a:t>Перспективи</a:t>
            </a:r>
          </a:p>
          <a:p>
            <a:pPr algn="l">
              <a:spcBef>
                <a:spcPts val="300"/>
              </a:spcBef>
              <a:buNone/>
            </a:pPr>
            <a:r>
              <a:rPr lang="uk" sz="1200" dirty="0">
                <a:solidFill>
                  <a:srgbClr val="000000"/>
                </a:solidFill>
              </a:rPr>
              <a:t>Нові платформи, інтеграція AI, нативний мобільний застосунок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203457-6581-1248-BF75-722064D7116A}"/>
              </a:ext>
            </a:extLst>
          </p:cNvPr>
          <p:cNvSpPr/>
          <p:nvPr/>
        </p:nvSpPr>
        <p:spPr>
          <a:xfrm>
            <a:off x="4572000" y="2692400"/>
            <a:ext cx="3810000" cy="1524000"/>
          </a:xfrm>
          <a:prstGeom prst="roundRect">
            <a:avLst/>
          </a:prstGeom>
          <a:solidFill>
            <a:srgbClr val="F3EEE8"/>
          </a:solidFill>
          <a:ln w="12700" cap="flat" cmpd="sng" algn="ctr">
            <a:solidFill>
              <a:srgbClr val="CCA67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30000" tIns="45720" rIns="91440" bIns="45720" rtlCol="0" anchor="ctr" anchorCtr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k" sz="1500" b="1" dirty="0">
                <a:solidFill>
                  <a:srgbClr val="5D4037"/>
                </a:solidFill>
              </a:rPr>
              <a:t>Відкритий код</a:t>
            </a:r>
          </a:p>
          <a:p>
            <a:pPr algn="l">
              <a:spcBef>
                <a:spcPts val="300"/>
              </a:spcBef>
              <a:buNone/>
            </a:pPr>
            <a:r>
              <a:rPr lang="uk" sz="1200" dirty="0">
                <a:solidFill>
                  <a:srgbClr val="000000"/>
                </a:solidFill>
              </a:rPr>
              <a:t>Реалізацію опубліковано у відкритому репозиторії на GitHub</a:t>
            </a:r>
          </a:p>
        </p:txBody>
      </p:sp>
      <p:pic>
        <p:nvPicPr>
          <p:cNvPr id="144" name="Graphic 144" descr="Solved 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587500"/>
            <a:ext cx="431800" cy="431800"/>
          </a:xfrm>
          <a:prstGeom prst="rect">
            <a:avLst/>
          </a:prstGeom>
        </p:spPr>
      </p:pic>
      <p:pic>
        <p:nvPicPr>
          <p:cNvPr id="145" name="Graphic 145" descr="SaaS potenti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1587500"/>
            <a:ext cx="431800" cy="431800"/>
          </a:xfrm>
          <a:prstGeom prst="rect">
            <a:avLst/>
          </a:prstGeom>
        </p:spPr>
      </p:pic>
      <p:pic>
        <p:nvPicPr>
          <p:cNvPr id="146" name="Graphic 146" descr="Prospec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238500"/>
            <a:ext cx="431800" cy="431800"/>
          </a:xfrm>
          <a:prstGeom prst="rect">
            <a:avLst/>
          </a:prstGeom>
        </p:spPr>
      </p:pic>
      <p:pic>
        <p:nvPicPr>
          <p:cNvPr id="147" name="Graphic 147" descr="Open source c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800" y="32385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55382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91AC4D-E891-5D4D-9264-859D437A197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0b4ed60-3005-4592-bb01-1be5b514ea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кваліфікаційної роботи магістрів</Template>
  <TotalTime>98</TotalTime>
  <Words>724</Words>
  <Application>Microsoft Macintosh PowerPoint</Application>
  <PresentationFormat>On-screen Show (16:9)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Economica</vt:lpstr>
      <vt:lpstr>Open Sans</vt:lpstr>
      <vt:lpstr>Шаблон презентації кваліфікаційної роботи магістрів</vt:lpstr>
      <vt:lpstr>Вебсистема «Dialogly» для централізованого управління бізнес-чатами у мультиканальному середовищі. Front-end. </vt:lpstr>
      <vt:lpstr>Мета роботи</vt:lpstr>
      <vt:lpstr>Аналіз проблеми</vt:lpstr>
      <vt:lpstr>Постановка задачі та опис системи</vt:lpstr>
      <vt:lpstr>Вибір технологій розробки</vt:lpstr>
      <vt:lpstr>Архітектура ПЗ</vt:lpstr>
      <vt:lpstr>Опис процесу розробки</vt:lpstr>
      <vt:lpstr>Дизайн системи</vt:lpstr>
      <vt:lpstr>Приклад реалізації</vt:lpstr>
      <vt:lpstr>Інтерфейс користувача</vt:lpstr>
      <vt:lpstr>Тестування</vt:lpstr>
      <vt:lpstr>Публікація результатів</vt:lpstr>
      <vt:lpstr>Підсумки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Альона Тараненко</dc:creator>
  <cp:lastModifiedBy>Альона Тараненко</cp:lastModifiedBy>
  <cp:revision>2</cp:revision>
  <dcterms:created xsi:type="dcterms:W3CDTF">2026-07-11T23:38:05Z</dcterms:created>
  <dcterms:modified xsi:type="dcterms:W3CDTF">2026-07-12T01:16:44Z</dcterms:modified>
</cp:coreProperties>
</file>